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91860" cy="6906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5470" marR="146050" indent="-1261110">
              <a:lnSpc>
                <a:spcPct val="1442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FlowTrack: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Uma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Solução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Baseada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em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IoT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Inteligência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Artificial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para </a:t>
            </a:r>
            <a:r>
              <a:rPr dirty="0" sz="1200" b="1">
                <a:latin typeface="Arial"/>
                <a:cs typeface="Arial"/>
              </a:rPr>
              <a:t>Mobilidade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Urbana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Ferroviária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Autores</a:t>
            </a:r>
            <a:endParaRPr sz="1200">
              <a:latin typeface="Arial"/>
              <a:cs typeface="Arial"/>
            </a:endParaRPr>
          </a:p>
          <a:p>
            <a:pPr marL="12700" marR="3216275">
              <a:lnSpc>
                <a:spcPts val="2080"/>
              </a:lnSpc>
              <a:spcBef>
                <a:spcPts val="160"/>
              </a:spcBef>
            </a:pPr>
            <a:r>
              <a:rPr dirty="0" sz="1200">
                <a:latin typeface="Arial"/>
                <a:cs typeface="Arial"/>
              </a:rPr>
              <a:t>Deyvid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Firmino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Santos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0">
                <a:latin typeface="Arial"/>
                <a:cs typeface="Arial"/>
              </a:rPr>
              <a:t> 825153519 </a:t>
            </a:r>
            <a:r>
              <a:rPr dirty="0" sz="1200">
                <a:latin typeface="Arial"/>
                <a:cs typeface="Arial"/>
              </a:rPr>
              <a:t>João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Vitor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Barbosa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825142404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"/>
                <a:cs typeface="Arial"/>
              </a:rPr>
              <a:t>João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Vitor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Chioatto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Serafim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825133189</a:t>
            </a:r>
            <a:endParaRPr sz="1200">
              <a:latin typeface="Arial"/>
              <a:cs typeface="Arial"/>
            </a:endParaRPr>
          </a:p>
          <a:p>
            <a:pPr marL="12700" marR="3030220">
              <a:lnSpc>
                <a:spcPct val="1439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João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Victor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Souza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Moreira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825135230 </a:t>
            </a:r>
            <a:r>
              <a:rPr dirty="0" sz="1200">
                <a:latin typeface="Arial"/>
                <a:cs typeface="Arial"/>
              </a:rPr>
              <a:t>Matheus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Monteiro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Silva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0">
                <a:latin typeface="Arial"/>
                <a:cs typeface="Arial"/>
              </a:rPr>
              <a:t> 825153304 </a:t>
            </a:r>
            <a:r>
              <a:rPr dirty="0" sz="1200">
                <a:latin typeface="Arial"/>
                <a:cs typeface="Arial"/>
              </a:rPr>
              <a:t>Wender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Soares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Santos –</a:t>
            </a:r>
            <a:r>
              <a:rPr dirty="0" sz="1200" spc="-10">
                <a:latin typeface="Arial"/>
                <a:cs typeface="Arial"/>
              </a:rPr>
              <a:t> 825166931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Resumo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300"/>
              </a:lnSpc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presente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artigo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apresenta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FlowTrack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solução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tecnológica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integrada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utiliza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das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Coisas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(IoT),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Inteligência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Artificial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(IA)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mecanismos</a:t>
            </a:r>
            <a:endParaRPr sz="1200">
              <a:latin typeface="Arial"/>
              <a:cs typeface="Arial"/>
            </a:endParaRPr>
          </a:p>
          <a:p>
            <a:pPr algn="just" marL="12700" marR="11430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avançados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digital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aprimorar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modernizar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transporte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ferroviário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cidade</a:t>
            </a:r>
            <a:r>
              <a:rPr dirty="0" sz="1200" spc="20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São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Paulo.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operação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ferroviária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urbana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enfrenta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desafios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históricos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superlotação,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falhas</a:t>
            </a:r>
            <a:r>
              <a:rPr dirty="0" sz="1200" spc="20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operacionais,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eventos</a:t>
            </a:r>
            <a:r>
              <a:rPr dirty="0" sz="1200" spc="20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imprevistos</a:t>
            </a:r>
            <a:r>
              <a:rPr dirty="0" sz="1200" spc="20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atrasos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prejudicam </a:t>
            </a:r>
            <a:r>
              <a:rPr dirty="0" sz="1200">
                <a:latin typeface="Arial"/>
                <a:cs typeface="Arial"/>
              </a:rPr>
              <a:t>diretamente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experiência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4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usuários</a:t>
            </a:r>
            <a:r>
              <a:rPr dirty="0" sz="1200" spc="4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45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eficiência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mobilidade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urbana.</a:t>
            </a:r>
            <a:r>
              <a:rPr dirty="0" sz="1200" spc="459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O </a:t>
            </a:r>
            <a:r>
              <a:rPr dirty="0" sz="1200">
                <a:latin typeface="Arial"/>
                <a:cs typeface="Arial"/>
              </a:rPr>
              <a:t>FlowTrack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surge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ecossistema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inteligente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capaz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realizar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monitoramento </a:t>
            </a:r>
            <a:r>
              <a:rPr dirty="0" sz="1200">
                <a:latin typeface="Arial"/>
                <a:cs typeface="Arial"/>
              </a:rPr>
              <a:t>contínuo,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análise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larga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escala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ações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preventivas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real, </a:t>
            </a:r>
            <a:r>
              <a:rPr dirty="0" sz="1200">
                <a:latin typeface="Arial"/>
                <a:cs typeface="Arial"/>
              </a:rPr>
              <a:t>reduzindo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riscos,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aumentando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previsibilidade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otimizando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recursos.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se </a:t>
            </a:r>
            <a:r>
              <a:rPr dirty="0" sz="1200">
                <a:latin typeface="Arial"/>
                <a:cs typeface="Arial"/>
              </a:rPr>
              <a:t>fundamenta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integração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entre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sensores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distribuídos,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algoritmos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inteligentes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arquiteturas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resilientes,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além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propor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modelo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negócio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sustentável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sua </a:t>
            </a:r>
            <a:r>
              <a:rPr dirty="0" sz="1200">
                <a:latin typeface="Arial"/>
                <a:cs typeface="Arial"/>
              </a:rPr>
              <a:t>viabilidade.</a:t>
            </a:r>
            <a:r>
              <a:rPr dirty="0" sz="1200" spc="3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estudo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demonstra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adoção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tecnologias</a:t>
            </a:r>
            <a:r>
              <a:rPr dirty="0" sz="1200" spc="3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emergentes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pode </a:t>
            </a:r>
            <a:r>
              <a:rPr dirty="0" sz="1200">
                <a:latin typeface="Arial"/>
                <a:cs typeface="Arial"/>
              </a:rPr>
              <a:t>transformar</a:t>
            </a:r>
            <a:r>
              <a:rPr dirty="0" sz="1200" spc="46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profundamente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operação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ferroviária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contribuir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 spc="-50">
                <a:latin typeface="Arial"/>
                <a:cs typeface="Arial"/>
              </a:rPr>
              <a:t>o </a:t>
            </a:r>
            <a:r>
              <a:rPr dirty="0" sz="1200">
                <a:latin typeface="Arial"/>
                <a:cs typeface="Arial"/>
              </a:rPr>
              <a:t>desenvolviment0to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cidades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mais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inteligentes,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seguras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eficientes.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8120" y="8334044"/>
            <a:ext cx="5985510" cy="54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8945">
              <a:lnSpc>
                <a:spcPct val="143300"/>
              </a:lnSpc>
              <a:spcBef>
                <a:spcPts val="100"/>
              </a:spcBef>
              <a:tabLst>
                <a:tab pos="1879600" algn="l"/>
                <a:tab pos="2362200" algn="l"/>
                <a:tab pos="3378200" algn="l"/>
                <a:tab pos="4192904" algn="l"/>
                <a:tab pos="5169535" algn="l"/>
              </a:tabLst>
            </a:pPr>
            <a:r>
              <a:rPr dirty="0" sz="1200" b="1">
                <a:latin typeface="Arial"/>
                <a:cs typeface="Arial"/>
              </a:rPr>
              <a:t>Palavras-</a:t>
            </a:r>
            <a:r>
              <a:rPr dirty="0" sz="1200" spc="-10" b="1">
                <a:latin typeface="Arial"/>
                <a:cs typeface="Arial"/>
              </a:rPr>
              <a:t>chave: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0">
                <a:latin typeface="Arial"/>
                <a:cs typeface="Arial"/>
              </a:rPr>
              <a:t>IoT;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Inteligência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Artificial;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Transporte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Ferroviário; </a:t>
            </a:r>
            <a:r>
              <a:rPr dirty="0" sz="1200">
                <a:latin typeface="Arial"/>
                <a:cs typeface="Arial"/>
              </a:rPr>
              <a:t>Mobilidade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Urbana;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Cidades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Inteligentes.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86145" cy="659955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Introdução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8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transporte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sobre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trilhos</a:t>
            </a:r>
            <a:r>
              <a:rPr dirty="0" sz="1200" spc="3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desempenha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papel</a:t>
            </a:r>
            <a:r>
              <a:rPr dirty="0" sz="1200" spc="3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estratégico</a:t>
            </a:r>
            <a:r>
              <a:rPr dirty="0" sz="1200" spc="3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mobilidade </a:t>
            </a:r>
            <a:r>
              <a:rPr dirty="0" sz="1200">
                <a:latin typeface="Arial"/>
                <a:cs typeface="Arial"/>
              </a:rPr>
              <a:t>urbana</a:t>
            </a:r>
            <a:r>
              <a:rPr dirty="0" sz="1200" spc="4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das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grandes</a:t>
            </a:r>
            <a:r>
              <a:rPr dirty="0" sz="1200" spc="45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metrópoles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brasileiras,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especialmente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São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Paulo,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onde </a:t>
            </a:r>
            <a:r>
              <a:rPr dirty="0" sz="1200">
                <a:latin typeface="Arial"/>
                <a:cs typeface="Arial"/>
              </a:rPr>
              <a:t>milhões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passageiros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dependem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realizar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deslocamentos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diários. </a:t>
            </a:r>
            <a:r>
              <a:rPr dirty="0" sz="1200">
                <a:latin typeface="Arial"/>
                <a:cs typeface="Arial"/>
              </a:rPr>
              <a:t>Apesar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alta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demanda,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operação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ferroviária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enfrenta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limitações</a:t>
            </a:r>
            <a:r>
              <a:rPr dirty="0" sz="1200" spc="3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estruturais</a:t>
            </a:r>
            <a:r>
              <a:rPr dirty="0" sz="1200" spc="39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tecnológicas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resultam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superlotação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frequente,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filas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extensas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horários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de </a:t>
            </a:r>
            <a:r>
              <a:rPr dirty="0" sz="1200">
                <a:latin typeface="Arial"/>
                <a:cs typeface="Arial"/>
              </a:rPr>
              <a:t>pico,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atrasos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recorrentes,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falhas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técnicas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baixa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previsibilidade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nos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intervalos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entre trens.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crescente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urbanização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intensifica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esses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problemas,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exigindo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sistemas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mais</a:t>
            </a: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438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inteligentes,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capazes</a:t>
            </a:r>
            <a:r>
              <a:rPr dirty="0" sz="1200" spc="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responder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forma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rápida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precisa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às</a:t>
            </a:r>
            <a:r>
              <a:rPr dirty="0" sz="1200" spc="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mudanças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fluxo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passageiros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às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condições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operacionais.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Nesse</a:t>
            </a:r>
            <a:r>
              <a:rPr dirty="0" sz="1200" spc="2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cenário,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tecnologias</a:t>
            </a:r>
            <a:r>
              <a:rPr dirty="0" sz="1200" spc="2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IoT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IA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surgem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ferramentas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essenciais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modernizar</a:t>
            </a:r>
            <a:r>
              <a:rPr dirty="0" sz="1200" spc="2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operação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ferroviária, </a:t>
            </a:r>
            <a:r>
              <a:rPr dirty="0" sz="1200">
                <a:latin typeface="Arial"/>
                <a:cs typeface="Arial"/>
              </a:rPr>
              <a:t>permitir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decisões</a:t>
            </a:r>
            <a:r>
              <a:rPr dirty="0" sz="1200" spc="3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baseadas</a:t>
            </a:r>
            <a:r>
              <a:rPr dirty="0" sz="1200" spc="3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</a:t>
            </a:r>
            <a:r>
              <a:rPr dirty="0" sz="1200" spc="3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aumentar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capacidade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resposta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do </a:t>
            </a:r>
            <a:r>
              <a:rPr dirty="0" sz="1200" spc="-10">
                <a:latin typeface="Arial"/>
                <a:cs typeface="Arial"/>
              </a:rPr>
              <a:t>sistema.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46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FlowTrack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surge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solução</a:t>
            </a:r>
            <a:r>
              <a:rPr dirty="0" sz="1200" spc="47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inovadora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voltada</a:t>
            </a:r>
            <a:r>
              <a:rPr dirty="0" sz="1200" spc="470">
                <a:latin typeface="Arial"/>
                <a:cs typeface="Arial"/>
              </a:rPr>
              <a:t>  </a:t>
            </a:r>
            <a:r>
              <a:rPr dirty="0" sz="1200" spc="-20">
                <a:latin typeface="Arial"/>
                <a:cs typeface="Arial"/>
              </a:rPr>
              <a:t>para</a:t>
            </a: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438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monitoramento,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análise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controle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operação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ferroviária.</a:t>
            </a:r>
            <a:r>
              <a:rPr dirty="0" sz="1200" spc="2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proposta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consiste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em </a:t>
            </a:r>
            <a:r>
              <a:rPr dirty="0" sz="1200">
                <a:latin typeface="Arial"/>
                <a:cs typeface="Arial"/>
              </a:rPr>
              <a:t>integrar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sensores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avançados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distribuídos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por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estações,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trilhos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composições, </a:t>
            </a:r>
            <a:r>
              <a:rPr dirty="0" sz="1200">
                <a:latin typeface="Arial"/>
                <a:cs typeface="Arial"/>
              </a:rPr>
              <a:t>combinados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algoritmos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preditivos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capazes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interpretar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3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real. </a:t>
            </a:r>
            <a:r>
              <a:rPr dirty="0" sz="1200">
                <a:latin typeface="Arial"/>
                <a:cs typeface="Arial"/>
              </a:rPr>
              <a:t>Dessa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forma,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plataforma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possibilita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atuação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proativa,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reduzindo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falhas, </a:t>
            </a:r>
            <a:r>
              <a:rPr dirty="0" sz="1200">
                <a:latin typeface="Arial"/>
                <a:cs typeface="Arial"/>
              </a:rPr>
              <a:t>antecipando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aglomerações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permitindo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intervenções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imediatas.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Além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disso,</a:t>
            </a:r>
            <a:r>
              <a:rPr dirty="0" sz="1200" spc="15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solução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inclui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protocolos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rigorosos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digital,</a:t>
            </a: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43600"/>
              </a:lnSpc>
              <a:spcBef>
                <a:spcPts val="10"/>
              </a:spcBef>
            </a:pPr>
            <a:r>
              <a:rPr dirty="0" sz="1200">
                <a:latin typeface="Arial"/>
                <a:cs typeface="Arial"/>
              </a:rPr>
              <a:t>visando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proteger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sensíveis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garantir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confiabilidade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sistema.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um </a:t>
            </a:r>
            <a:r>
              <a:rPr dirty="0" sz="1200">
                <a:latin typeface="Arial"/>
                <a:cs typeface="Arial"/>
              </a:rPr>
              <a:t>contexto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no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qual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infraestrutura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urbana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depende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cada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vez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mais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sistemas </a:t>
            </a:r>
            <a:r>
              <a:rPr dirty="0" sz="1200">
                <a:latin typeface="Arial"/>
                <a:cs typeface="Arial"/>
              </a:rPr>
              <a:t>conectados,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torna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elemento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central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construção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ambientes </a:t>
            </a:r>
            <a:r>
              <a:rPr dirty="0" sz="1200">
                <a:latin typeface="Arial"/>
                <a:cs typeface="Arial"/>
              </a:rPr>
              <a:t>tecnológicos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escaláveis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confiáveis.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04" y="7472121"/>
            <a:ext cx="3211957" cy="16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94400" cy="7125334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Referencial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Teórico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desenvolvimento</a:t>
            </a:r>
            <a:r>
              <a:rPr dirty="0" sz="1200" spc="3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cidades</a:t>
            </a:r>
            <a:r>
              <a:rPr dirty="0" sz="1200" spc="3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inteligentes</a:t>
            </a:r>
            <a:r>
              <a:rPr dirty="0" sz="1200" spc="3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envolve</a:t>
            </a:r>
            <a:r>
              <a:rPr dirty="0" sz="1200" spc="3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aplicação</a:t>
            </a:r>
            <a:r>
              <a:rPr dirty="0" sz="1200" spc="330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de </a:t>
            </a:r>
            <a:r>
              <a:rPr dirty="0" sz="1200">
                <a:latin typeface="Arial"/>
                <a:cs typeface="Arial"/>
              </a:rPr>
              <a:t>tecnologias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emergentes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integrem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diferentes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setores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urbanos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 spc="-20">
                <a:latin typeface="Arial"/>
                <a:cs typeface="Arial"/>
              </a:rPr>
              <a:t>rede </a:t>
            </a:r>
            <a:r>
              <a:rPr dirty="0" sz="1200">
                <a:latin typeface="Arial"/>
                <a:cs typeface="Arial"/>
              </a:rPr>
              <a:t>conectada</a:t>
            </a:r>
            <a:r>
              <a:rPr dirty="0" sz="1200" spc="2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responsiva.</a:t>
            </a:r>
            <a:r>
              <a:rPr dirty="0" sz="1200" spc="2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No</a:t>
            </a:r>
            <a:r>
              <a:rPr dirty="0" sz="1200" spc="2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campo</a:t>
            </a:r>
            <a:r>
              <a:rPr dirty="0" sz="1200" spc="2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2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mobilidade,</a:t>
            </a:r>
            <a:r>
              <a:rPr dirty="0" sz="1200" spc="2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Internet</a:t>
            </a:r>
            <a:r>
              <a:rPr dirty="0" sz="1200" spc="229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das</a:t>
            </a:r>
            <a:r>
              <a:rPr dirty="0" sz="1200" spc="23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Coisas </a:t>
            </a:r>
            <a:r>
              <a:rPr dirty="0" sz="1200">
                <a:latin typeface="Arial"/>
                <a:cs typeface="Arial"/>
              </a:rPr>
              <a:t>desempenha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papel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fundamental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ao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permitir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objetos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físicos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8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trens, </a:t>
            </a:r>
            <a:r>
              <a:rPr dirty="0" sz="1200">
                <a:latin typeface="Arial"/>
                <a:cs typeface="Arial"/>
              </a:rPr>
              <a:t>portas,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trilhos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catracas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—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tornem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fontes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informações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precisas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contínuas.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literatura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recente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aponta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sistemas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IoT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aplicados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ao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transporte</a:t>
            </a:r>
            <a:endParaRPr sz="1200">
              <a:latin typeface="Arial"/>
              <a:cs typeface="Arial"/>
            </a:endParaRPr>
          </a:p>
          <a:p>
            <a:pPr algn="just" marL="12700" marR="13970">
              <a:lnSpc>
                <a:spcPct val="1438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público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contribuem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2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monitoramento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2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2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fluxo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passageiros, </a:t>
            </a:r>
            <a:r>
              <a:rPr dirty="0" sz="1200">
                <a:latin typeface="Arial"/>
                <a:cs typeface="Arial"/>
              </a:rPr>
              <a:t>desgaste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componentes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mecânicos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condições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ambientais.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Segundo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Pereira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Santos</a:t>
            </a:r>
            <a:r>
              <a:rPr dirty="0" sz="1200" spc="1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(2023),</a:t>
            </a:r>
            <a:r>
              <a:rPr dirty="0" sz="1200" spc="2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sensores</a:t>
            </a:r>
            <a:r>
              <a:rPr dirty="0" sz="1200" spc="2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distribuídos</a:t>
            </a:r>
            <a:r>
              <a:rPr dirty="0" sz="1200" spc="2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permitem</a:t>
            </a:r>
            <a:r>
              <a:rPr dirty="0" sz="1200" spc="2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detectar</a:t>
            </a:r>
            <a:r>
              <a:rPr dirty="0" sz="1200" spc="1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padrões</a:t>
            </a:r>
            <a:r>
              <a:rPr dirty="0" sz="1200" spc="20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operacionais </a:t>
            </a:r>
            <a:r>
              <a:rPr dirty="0" sz="1200">
                <a:latin typeface="Arial"/>
                <a:cs typeface="Arial"/>
              </a:rPr>
              <a:t>anômalos,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velocidade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irregular,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vibrações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incomuns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ou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aumento</a:t>
            </a:r>
            <a:r>
              <a:rPr dirty="0" sz="1200" spc="2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repentino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na </a:t>
            </a:r>
            <a:r>
              <a:rPr dirty="0" sz="1200">
                <a:latin typeface="Arial"/>
                <a:cs typeface="Arial"/>
              </a:rPr>
              <a:t>temperatura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equipamentos,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prevenindo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falhas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interrupções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mais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graves.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Além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disso,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Inteligência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Artificial,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especialmente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por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meio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modelos</a:t>
            </a:r>
            <a:endParaRPr sz="1200">
              <a:latin typeface="Arial"/>
              <a:cs typeface="Arial"/>
            </a:endParaRPr>
          </a:p>
          <a:p>
            <a:pPr algn="just" marL="12700" marR="13970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preditivos,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é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amplamente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utilizada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antecipar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comportamentos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sistema. </a:t>
            </a:r>
            <a:r>
              <a:rPr dirty="0" sz="1200">
                <a:latin typeface="Arial"/>
                <a:cs typeface="Arial"/>
              </a:rPr>
              <a:t>Almeida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(2024)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destaca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3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algoritmos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machine</a:t>
            </a:r>
            <a:r>
              <a:rPr dirty="0" sz="1200" spc="3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learning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podem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prever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falhas </a:t>
            </a:r>
            <a:r>
              <a:rPr dirty="0" sz="1200">
                <a:latin typeface="Arial"/>
                <a:cs typeface="Arial"/>
              </a:rPr>
              <a:t>técnicas,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identificar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quais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estações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tendem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apresentar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superlotação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recomendar </a:t>
            </a:r>
            <a:r>
              <a:rPr dirty="0" sz="1200">
                <a:latin typeface="Arial"/>
                <a:cs typeface="Arial"/>
              </a:rPr>
              <a:t>ajustes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dinâmicos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nos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intervalos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entre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trens.</a:t>
            </a:r>
            <a:endParaRPr sz="1200">
              <a:latin typeface="Arial"/>
              <a:cs typeface="Arial"/>
            </a:endParaRPr>
          </a:p>
          <a:p>
            <a:pPr algn="just" marL="12700" marR="12700" indent="448945">
              <a:lnSpc>
                <a:spcPct val="1438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integração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entre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IoT</a:t>
            </a:r>
            <a:r>
              <a:rPr dirty="0" sz="1200" spc="4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IA</a:t>
            </a:r>
            <a:r>
              <a:rPr dirty="0" sz="1200" spc="4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permite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criação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redes</a:t>
            </a:r>
            <a:r>
              <a:rPr dirty="0" sz="1200" spc="4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ferroviárias</a:t>
            </a:r>
            <a:r>
              <a:rPr dirty="0" sz="1200" spc="42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mais </a:t>
            </a:r>
            <a:r>
              <a:rPr dirty="0" sz="1200">
                <a:latin typeface="Arial"/>
                <a:cs typeface="Arial"/>
              </a:rPr>
              <a:t>eficientes,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nas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quais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decisões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operacionais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são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automatizadas</a:t>
            </a:r>
            <a:r>
              <a:rPr dirty="0" sz="1200" spc="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base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análise </a:t>
            </a:r>
            <a:r>
              <a:rPr dirty="0" sz="1200">
                <a:latin typeface="Arial"/>
                <a:cs typeface="Arial"/>
              </a:rPr>
              <a:t>contínua</a:t>
            </a:r>
            <a:r>
              <a:rPr dirty="0" sz="1200" spc="4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milhares</a:t>
            </a:r>
            <a:r>
              <a:rPr dirty="0" sz="1200" spc="4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dados</a:t>
            </a:r>
            <a:r>
              <a:rPr dirty="0" sz="1200" spc="4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simultâneos.</a:t>
            </a:r>
            <a:r>
              <a:rPr dirty="0" sz="1200" spc="4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Essa</a:t>
            </a:r>
            <a:r>
              <a:rPr dirty="0" sz="1200" spc="409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abordagem</a:t>
            </a:r>
            <a:r>
              <a:rPr dirty="0" sz="1200" spc="40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melhora </a:t>
            </a:r>
            <a:r>
              <a:rPr dirty="0" sz="1200">
                <a:latin typeface="Arial"/>
                <a:cs typeface="Arial"/>
              </a:rPr>
              <a:t>significativamente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capacidade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planejamento,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reduz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custos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manutenção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aumenta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sistema.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Por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fim,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literatura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sobre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cidades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inteligentes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reforça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importância</a:t>
            </a:r>
            <a:r>
              <a:rPr dirty="0" sz="1200" spc="110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da</a:t>
            </a:r>
            <a:endParaRPr sz="1200">
              <a:latin typeface="Arial"/>
              <a:cs typeface="Arial"/>
            </a:endParaRPr>
          </a:p>
          <a:p>
            <a:pPr algn="just" marL="12700" marR="14604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cibernética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3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pilar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fundamental</a:t>
            </a:r>
            <a:r>
              <a:rPr dirty="0" sz="1200" spc="3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garantir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autenticidade, </a:t>
            </a:r>
            <a:r>
              <a:rPr dirty="0" sz="1200">
                <a:latin typeface="Arial"/>
                <a:cs typeface="Arial"/>
              </a:rPr>
              <a:t>integridade</a:t>
            </a:r>
            <a:r>
              <a:rPr dirty="0" sz="1200" spc="3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confidencialidade</a:t>
            </a:r>
            <a:r>
              <a:rPr dirty="0" sz="1200" spc="3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dados.</a:t>
            </a:r>
            <a:r>
              <a:rPr dirty="0" sz="1200" spc="3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Tecnologias</a:t>
            </a:r>
            <a:r>
              <a:rPr dirty="0" sz="1200" spc="3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35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criptografia, </a:t>
            </a:r>
            <a:r>
              <a:rPr dirty="0" sz="1200">
                <a:latin typeface="Arial"/>
                <a:cs typeface="Arial"/>
              </a:rPr>
              <a:t>autenticação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avançada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blockchain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são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utilizadas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prevenir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ataques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rastrear </a:t>
            </a:r>
            <a:r>
              <a:rPr dirty="0" sz="1200">
                <a:latin typeface="Arial"/>
                <a:cs typeface="Arial"/>
              </a:rPr>
              <a:t>alterações,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ampliando</a:t>
            </a:r>
            <a:r>
              <a:rPr dirty="0" sz="1200" spc="20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confiabilidade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das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infraestruturas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críticas.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86145" cy="134112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Metodologia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600"/>
              </a:lnSpc>
              <a:spcBef>
                <a:spcPts val="10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desenvolvimento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FlowTrack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seguiu</a:t>
            </a:r>
            <a:r>
              <a:rPr dirty="0" sz="1200" spc="1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abordagem</a:t>
            </a:r>
            <a:r>
              <a:rPr dirty="0" sz="1200" spc="1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incremental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modular,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permitindo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construção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progressiva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</a:t>
            </a:r>
            <a:r>
              <a:rPr dirty="0" sz="1200" spc="4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conforme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os</a:t>
            </a:r>
            <a:r>
              <a:rPr dirty="0" sz="1200" spc="40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requisitos </a:t>
            </a:r>
            <a:r>
              <a:rPr dirty="0" sz="1200">
                <a:latin typeface="Arial"/>
                <a:cs typeface="Arial"/>
              </a:rPr>
              <a:t>identificados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análise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transporte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ferroviário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paulistano.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metodologia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foi </a:t>
            </a:r>
            <a:r>
              <a:rPr dirty="0" sz="1200">
                <a:latin typeface="Arial"/>
                <a:cs typeface="Arial"/>
              </a:rPr>
              <a:t>dividida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quatro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etapas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principais: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8120" y="2638933"/>
            <a:ext cx="5992495" cy="16021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25"/>
              </a:spcBef>
            </a:pPr>
            <a:r>
              <a:rPr dirty="0" sz="1200" b="1">
                <a:latin typeface="Arial"/>
                <a:cs typeface="Arial"/>
              </a:rPr>
              <a:t>3.1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Definição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arquitetura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IoT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Nesta</a:t>
            </a:r>
            <a:r>
              <a:rPr dirty="0" sz="1200" spc="4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fase,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foram</a:t>
            </a:r>
            <a:r>
              <a:rPr dirty="0" sz="1200" spc="4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identificados</a:t>
            </a:r>
            <a:r>
              <a:rPr dirty="0" sz="1200" spc="40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os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pontos</a:t>
            </a:r>
            <a:r>
              <a:rPr dirty="0" sz="1200" spc="4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críticos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4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operação</a:t>
            </a:r>
            <a:r>
              <a:rPr dirty="0" sz="1200" spc="4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ferroviária,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43600"/>
              </a:lnSpc>
              <a:spcBef>
                <a:spcPts val="10"/>
              </a:spcBef>
            </a:pP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portas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plataforma,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mecanismos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frenagem,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ventilação</a:t>
            </a:r>
            <a:r>
              <a:rPr dirty="0" sz="1200" spc="33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dos </a:t>
            </a:r>
            <a:r>
              <a:rPr dirty="0" sz="1200">
                <a:latin typeface="Arial"/>
                <a:cs typeface="Arial"/>
              </a:rPr>
              <a:t>vagões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sensores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lotação.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base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nisso,</a:t>
            </a:r>
            <a:r>
              <a:rPr dirty="0" sz="1200" spc="14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projetou-se</a:t>
            </a:r>
            <a:r>
              <a:rPr dirty="0" sz="1200" spc="13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125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arquitetura </a:t>
            </a:r>
            <a:r>
              <a:rPr dirty="0" sz="1200">
                <a:latin typeface="Arial"/>
                <a:cs typeface="Arial"/>
              </a:rPr>
              <a:t>distribuída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permite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monitoramento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contínuo,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mesmo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ambientes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grande </a:t>
            </a:r>
            <a:r>
              <a:rPr dirty="0" sz="1200">
                <a:latin typeface="Arial"/>
                <a:cs typeface="Arial"/>
              </a:rPr>
              <a:t>interferência</a:t>
            </a:r>
            <a:r>
              <a:rPr dirty="0" sz="1200" spc="29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eletromagnética.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8120" y="6891528"/>
            <a:ext cx="5986145" cy="16021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25"/>
              </a:spcBef>
            </a:pPr>
            <a:r>
              <a:rPr dirty="0" sz="1200" b="1">
                <a:latin typeface="Arial"/>
                <a:cs typeface="Arial"/>
              </a:rPr>
              <a:t>3.2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Desenvolvimento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dos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modelos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IA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segunda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etapa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envolveu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criação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modelos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preditivos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capazes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43600"/>
              </a:lnSpc>
              <a:spcBef>
                <a:spcPts val="10"/>
              </a:spcBef>
            </a:pPr>
            <a:r>
              <a:rPr dirty="0" sz="1200">
                <a:latin typeface="Arial"/>
                <a:cs typeface="Arial"/>
              </a:rPr>
              <a:t>analisar</a:t>
            </a:r>
            <a:r>
              <a:rPr dirty="0" sz="1200" spc="4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</a:t>
            </a:r>
            <a:r>
              <a:rPr dirty="0" sz="1200" spc="4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históricos</a:t>
            </a:r>
            <a:r>
              <a:rPr dirty="0" sz="1200" spc="4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4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4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real.</a:t>
            </a:r>
            <a:r>
              <a:rPr dirty="0" sz="1200" spc="4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Os</a:t>
            </a:r>
            <a:r>
              <a:rPr dirty="0" sz="1200" spc="4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algoritmos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foram</a:t>
            </a:r>
            <a:r>
              <a:rPr dirty="0" sz="1200" spc="45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treinados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para </a:t>
            </a:r>
            <a:r>
              <a:rPr dirty="0" sz="1200">
                <a:latin typeface="Arial"/>
                <a:cs typeface="Arial"/>
              </a:rPr>
              <a:t>prever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picos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fluxo,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identificar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padrões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falhas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recomendar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ações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como </a:t>
            </a:r>
            <a:r>
              <a:rPr dirty="0" sz="1200">
                <a:latin typeface="Arial"/>
                <a:cs typeface="Arial"/>
              </a:rPr>
              <a:t>aumento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frequência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trens,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redistribuição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usuários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alertas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automáticos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equipes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operacionais.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0179" y="4317491"/>
            <a:ext cx="3153283" cy="23211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4447158"/>
            <a:ext cx="5991860" cy="134112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Arial"/>
                <a:cs typeface="Arial"/>
              </a:rPr>
              <a:t>3.3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Integração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entre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módulos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Após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construção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individual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componentes,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iniciou-se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integração</a:t>
            </a:r>
            <a:r>
              <a:rPr dirty="0" sz="1200" spc="2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entre </a:t>
            </a:r>
            <a:r>
              <a:rPr dirty="0" sz="1200">
                <a:latin typeface="Arial"/>
                <a:cs typeface="Arial"/>
              </a:rPr>
              <a:t>sensores,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bancos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dados,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motores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IA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painel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controle.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Simulações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foram </a:t>
            </a:r>
            <a:r>
              <a:rPr dirty="0" sz="1200">
                <a:latin typeface="Arial"/>
                <a:cs typeface="Arial"/>
              </a:rPr>
              <a:t>realizadas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utilizando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cenários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reais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horários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pico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CPTM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Metrô, </a:t>
            </a:r>
            <a:r>
              <a:rPr dirty="0" sz="1200">
                <a:latin typeface="Arial"/>
                <a:cs typeface="Arial"/>
              </a:rPr>
              <a:t>avaliando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desempenho,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resposta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taxa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acerto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das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previsões.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8120" y="6550532"/>
            <a:ext cx="5984875" cy="16046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Arial"/>
                <a:cs typeface="Arial"/>
              </a:rPr>
              <a:t>3.4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Análise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requisitos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8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2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metodologia</a:t>
            </a:r>
            <a:r>
              <a:rPr dirty="0" sz="1200" spc="20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considerou</a:t>
            </a:r>
            <a:r>
              <a:rPr dirty="0" sz="1200" spc="20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ainda</a:t>
            </a:r>
            <a:r>
              <a:rPr dirty="0" sz="1200" spc="1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19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análise</a:t>
            </a:r>
            <a:r>
              <a:rPr dirty="0" sz="1200" spc="20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detalhada</a:t>
            </a:r>
            <a:r>
              <a:rPr dirty="0" sz="1200" spc="1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204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principais </a:t>
            </a:r>
            <a:r>
              <a:rPr dirty="0" sz="1200">
                <a:latin typeface="Arial"/>
                <a:cs typeface="Arial"/>
              </a:rPr>
              <a:t>problemas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reportados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pelos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passageiros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operadores.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Foram</a:t>
            </a:r>
            <a:r>
              <a:rPr dirty="0" sz="1200" spc="229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definidos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parâmetros </a:t>
            </a:r>
            <a:r>
              <a:rPr dirty="0" sz="1200">
                <a:latin typeface="Arial"/>
                <a:cs typeface="Arial"/>
              </a:rPr>
              <a:t>essenciais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médio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parada,</a:t>
            </a:r>
            <a:r>
              <a:rPr dirty="0" sz="1200" spc="3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fluxo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entrada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saída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por</a:t>
            </a:r>
            <a:r>
              <a:rPr dirty="0" sz="1200" spc="3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estação, </a:t>
            </a:r>
            <a:r>
              <a:rPr dirty="0" sz="1200">
                <a:latin typeface="Arial"/>
                <a:cs typeface="Arial"/>
              </a:rPr>
              <a:t>temperatura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interna</a:t>
            </a:r>
            <a:r>
              <a:rPr dirty="0" sz="1200" spc="2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vagões,</a:t>
            </a:r>
            <a:r>
              <a:rPr dirty="0" sz="1200" spc="2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falhas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repetitivas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2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portas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2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índices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de </a:t>
            </a:r>
            <a:r>
              <a:rPr dirty="0" sz="1200" spc="-10">
                <a:latin typeface="Arial"/>
                <a:cs typeface="Arial"/>
              </a:rPr>
              <a:t>superlotação.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1120" y="899794"/>
            <a:ext cx="3360420" cy="2240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84875" cy="16046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461645">
              <a:lnSpc>
                <a:spcPct val="100000"/>
              </a:lnSpc>
              <a:spcBef>
                <a:spcPts val="735"/>
              </a:spcBef>
            </a:pPr>
            <a:r>
              <a:rPr dirty="0" sz="1200" b="1">
                <a:latin typeface="Arial"/>
                <a:cs typeface="Arial"/>
              </a:rPr>
              <a:t>4.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Proposta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Solução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FlowTrack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consiste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3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plataforma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integrada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3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conecta</a:t>
            </a:r>
            <a:r>
              <a:rPr dirty="0" sz="1200" spc="38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sensores </a:t>
            </a:r>
            <a:r>
              <a:rPr dirty="0" sz="1200">
                <a:latin typeface="Arial"/>
                <a:cs typeface="Arial"/>
              </a:rPr>
              <a:t>IoT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instalados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locais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estratégicos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1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um</a:t>
            </a:r>
            <a:r>
              <a:rPr dirty="0" sz="1200" spc="13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núcleo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central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2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processamento </a:t>
            </a:r>
            <a:r>
              <a:rPr dirty="0" sz="1200">
                <a:latin typeface="Arial"/>
                <a:cs typeface="Arial"/>
              </a:rPr>
              <a:t>baseado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IA.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rede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inteligente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capaz</a:t>
            </a:r>
            <a:r>
              <a:rPr dirty="0" sz="1200" spc="2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monitorar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o </a:t>
            </a:r>
            <a:r>
              <a:rPr dirty="0" sz="1200">
                <a:latin typeface="Arial"/>
                <a:cs typeface="Arial"/>
              </a:rPr>
              <a:t>ambiente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ferroviário,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realizar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diagnósticos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automáticos,</a:t>
            </a:r>
            <a:r>
              <a:rPr dirty="0" sz="1200" spc="4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prever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comportamentos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agir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diretamente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sobre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operação.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8120" y="5733668"/>
            <a:ext cx="5997575" cy="318516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lvl="1" marL="728980" indent="-26733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728980" algn="l"/>
              </a:tabLst>
            </a:pPr>
            <a:r>
              <a:rPr dirty="0" sz="1200" b="1">
                <a:latin typeface="Arial"/>
                <a:cs typeface="Arial"/>
              </a:rPr>
              <a:t>Sensores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IoT</a:t>
            </a:r>
            <a:endParaRPr sz="1200">
              <a:latin typeface="Arial"/>
              <a:cs typeface="Arial"/>
            </a:endParaRPr>
          </a:p>
          <a:p>
            <a:pPr marL="12700" indent="448945">
              <a:lnSpc>
                <a:spcPct val="100000"/>
              </a:lnSpc>
              <a:spcBef>
                <a:spcPts val="620"/>
              </a:spcBef>
              <a:tabLst>
                <a:tab pos="802640" algn="l"/>
                <a:tab pos="1586230" algn="l"/>
                <a:tab pos="2767330" algn="l"/>
                <a:tab pos="3295015" algn="l"/>
                <a:tab pos="4305300" algn="l"/>
                <a:tab pos="4621530" algn="l"/>
                <a:tab pos="5798820" algn="l"/>
              </a:tabLst>
            </a:pPr>
            <a:r>
              <a:rPr dirty="0" sz="1200" spc="-25">
                <a:latin typeface="Arial"/>
                <a:cs typeface="Arial"/>
              </a:rPr>
              <a:t>Os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sensores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desempenham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papel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fundamental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no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funcionamento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do</a:t>
            </a:r>
            <a:endParaRPr sz="1200">
              <a:latin typeface="Arial"/>
              <a:cs typeface="Arial"/>
            </a:endParaRPr>
          </a:p>
          <a:p>
            <a:pPr marL="12700" marR="17780">
              <a:lnSpc>
                <a:spcPct val="143300"/>
              </a:lnSpc>
              <a:spcBef>
                <a:spcPts val="15"/>
              </a:spcBef>
            </a:pPr>
            <a:r>
              <a:rPr dirty="0" sz="1200">
                <a:latin typeface="Arial"/>
                <a:cs typeface="Arial"/>
              </a:rPr>
              <a:t>FlowTrack,</a:t>
            </a:r>
            <a:r>
              <a:rPr dirty="0" sz="1200" spc="2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pois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são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responsáveis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pela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coleta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massiva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dados.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Entre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seus</a:t>
            </a:r>
            <a:r>
              <a:rPr dirty="0" sz="1200" spc="254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usos, </a:t>
            </a:r>
            <a:r>
              <a:rPr dirty="0" sz="1200">
                <a:latin typeface="Arial"/>
                <a:cs typeface="Arial"/>
              </a:rPr>
              <a:t>destacam-</a:t>
            </a:r>
            <a:r>
              <a:rPr dirty="0" sz="1200" spc="-25">
                <a:latin typeface="Arial"/>
                <a:cs typeface="Arial"/>
              </a:rPr>
              <a:t>se:</a:t>
            </a:r>
            <a:endParaRPr sz="1200">
              <a:latin typeface="Arial"/>
              <a:cs typeface="Arial"/>
            </a:endParaRPr>
          </a:p>
          <a:p>
            <a:pPr lvl="2" marL="469265" marR="10795" indent="915035">
              <a:lnSpc>
                <a:spcPct val="1433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Monitoramento</a:t>
            </a:r>
            <a:r>
              <a:rPr dirty="0" sz="1200" spc="180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95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lotação</a:t>
            </a:r>
            <a:r>
              <a:rPr dirty="0" sz="1200" spc="175" b="1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por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meio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câmeras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IA </a:t>
            </a:r>
            <a:r>
              <a:rPr dirty="0" sz="1200">
                <a:latin typeface="Arial"/>
                <a:cs typeface="Arial"/>
              </a:rPr>
              <a:t>embarcada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sensores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proximidade;</a:t>
            </a:r>
            <a:endParaRPr sz="1200">
              <a:latin typeface="Arial"/>
              <a:cs typeface="Arial"/>
            </a:endParaRPr>
          </a:p>
          <a:p>
            <a:pPr lvl="2" marL="469265" marR="10795" indent="915035">
              <a:lnSpc>
                <a:spcPct val="143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Detecção</a:t>
            </a:r>
            <a:r>
              <a:rPr dirty="0" sz="1200" spc="114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25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falhas</a:t>
            </a:r>
            <a:r>
              <a:rPr dirty="0" sz="1200" spc="114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mecânicas</a:t>
            </a:r>
            <a:r>
              <a:rPr dirty="0" sz="1200" spc="114" b="1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trilhos,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rodas,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portas</a:t>
            </a:r>
            <a:r>
              <a:rPr dirty="0" sz="1200" spc="90">
                <a:latin typeface="Arial"/>
                <a:cs typeface="Arial"/>
              </a:rPr>
              <a:t> 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sistemas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frenagem;</a:t>
            </a:r>
            <a:endParaRPr sz="1200">
              <a:latin typeface="Arial"/>
              <a:cs typeface="Arial"/>
            </a:endParaRPr>
          </a:p>
          <a:p>
            <a:pPr lvl="2" marL="469265" marR="6350" indent="915035">
              <a:lnSpc>
                <a:spcPts val="2100"/>
              </a:lnSpc>
              <a:spcBef>
                <a:spcPts val="17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Análise</a:t>
            </a:r>
            <a:r>
              <a:rPr dirty="0" sz="1200" spc="4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</a:t>
            </a:r>
            <a:r>
              <a:rPr dirty="0" sz="1200" spc="409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qualidade</a:t>
            </a:r>
            <a:r>
              <a:rPr dirty="0" sz="1200" spc="4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4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incluindo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concentração</a:t>
            </a:r>
            <a:r>
              <a:rPr dirty="0" sz="1200" spc="3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CO</a:t>
            </a:r>
            <a:r>
              <a:rPr dirty="0" sz="1200" spc="-20">
                <a:latin typeface="Cambria Math"/>
                <a:cs typeface="Cambria Math"/>
              </a:rPr>
              <a:t>₂</a:t>
            </a:r>
            <a:r>
              <a:rPr dirty="0" sz="1200" spc="-20">
                <a:latin typeface="Arial"/>
                <a:cs typeface="Arial"/>
              </a:rPr>
              <a:t>, </a:t>
            </a:r>
            <a:r>
              <a:rPr dirty="0" sz="1200">
                <a:latin typeface="Arial"/>
                <a:cs typeface="Arial"/>
              </a:rPr>
              <a:t>temperatura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umidade;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1384300" algn="l"/>
                <a:tab pos="2654935" algn="l"/>
                <a:tab pos="2978785" algn="l"/>
                <a:tab pos="3488690" algn="l"/>
                <a:tab pos="3803650" algn="l"/>
                <a:tab pos="4688840" algn="l"/>
                <a:tab pos="4907915" algn="l"/>
              </a:tabLst>
            </a:pPr>
            <a:r>
              <a:rPr dirty="0" sz="1200" spc="-10" b="1">
                <a:latin typeface="Arial"/>
                <a:cs typeface="Arial"/>
              </a:rPr>
              <a:t>Monitoramento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5" b="1">
                <a:latin typeface="Arial"/>
                <a:cs typeface="Arial"/>
              </a:rPr>
              <a:t>do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0" b="1">
                <a:latin typeface="Arial"/>
                <a:cs typeface="Arial"/>
              </a:rPr>
              <a:t>fluxo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5" b="1">
                <a:latin typeface="Arial"/>
                <a:cs typeface="Arial"/>
              </a:rPr>
              <a:t>de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embarque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50" b="1">
                <a:latin typeface="Arial"/>
                <a:cs typeface="Arial"/>
              </a:rPr>
              <a:t>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desembarque</a:t>
            </a:r>
            <a:r>
              <a:rPr dirty="0" sz="1200" spc="-1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"/>
                <a:cs typeface="Arial"/>
              </a:rPr>
              <a:t>permitindo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prever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gargalos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operacionais;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9645" y="2477007"/>
            <a:ext cx="4103370" cy="2735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95035" cy="791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6350" indent="915035">
              <a:lnSpc>
                <a:spcPct val="1442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1384300" algn="l"/>
                <a:tab pos="2175510" algn="l"/>
                <a:tab pos="2519680" algn="l"/>
                <a:tab pos="3330575" algn="l"/>
                <a:tab pos="3578225" algn="l"/>
                <a:tab pos="4177665" algn="l"/>
                <a:tab pos="5011420" algn="l"/>
                <a:tab pos="5807075" algn="l"/>
              </a:tabLst>
            </a:pPr>
            <a:r>
              <a:rPr dirty="0" sz="1200" spc="-10" b="1">
                <a:latin typeface="Arial"/>
                <a:cs typeface="Arial"/>
              </a:rPr>
              <a:t>Medição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5" b="1">
                <a:latin typeface="Arial"/>
                <a:cs typeface="Arial"/>
              </a:rPr>
              <a:t>de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vibração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50" b="1">
                <a:latin typeface="Arial"/>
                <a:cs typeface="Arial"/>
              </a:rPr>
              <a:t>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ruído</a:t>
            </a:r>
            <a:r>
              <a:rPr dirty="0" sz="1200" spc="-10">
                <a:latin typeface="Arial"/>
                <a:cs typeface="Arial"/>
              </a:rPr>
              <a:t>,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indicando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desgaste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de </a:t>
            </a:r>
            <a:r>
              <a:rPr dirty="0" sz="1200" spc="-10">
                <a:latin typeface="Arial"/>
                <a:cs typeface="Arial"/>
              </a:rPr>
              <a:t>componentes.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200">
              <a:latin typeface="Arial"/>
              <a:cs typeface="Arial"/>
            </a:endParaRPr>
          </a:p>
          <a:p>
            <a:pPr lvl="1" marL="728980" indent="-26733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728980" algn="l"/>
              </a:tabLst>
            </a:pPr>
            <a:r>
              <a:rPr dirty="0" sz="1200" b="1">
                <a:latin typeface="Arial"/>
                <a:cs typeface="Arial"/>
              </a:rPr>
              <a:t>Inteligência</a:t>
            </a:r>
            <a:r>
              <a:rPr dirty="0" sz="1200" spc="229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Artificial</a:t>
            </a:r>
            <a:endParaRPr sz="1200">
              <a:latin typeface="Arial"/>
              <a:cs typeface="Arial"/>
            </a:endParaRPr>
          </a:p>
          <a:p>
            <a:pPr marL="12700" marR="14604" indent="448945">
              <a:lnSpc>
                <a:spcPts val="2080"/>
              </a:lnSpc>
              <a:spcBef>
                <a:spcPts val="160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camada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IA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adiciona</a:t>
            </a:r>
            <a:r>
              <a:rPr dirty="0" sz="1200" spc="49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inteligência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operacional</a:t>
            </a:r>
            <a:r>
              <a:rPr dirty="0" sz="1200" spc="4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ao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sistema,</a:t>
            </a:r>
            <a:r>
              <a:rPr dirty="0" sz="1200" spc="8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permitindo </a:t>
            </a:r>
            <a:r>
              <a:rPr dirty="0" sz="1200">
                <a:latin typeface="Arial"/>
                <a:cs typeface="Arial"/>
              </a:rPr>
              <a:t>análises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real: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44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Previsão</a:t>
            </a:r>
            <a:r>
              <a:rPr dirty="0" sz="1200" spc="125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30" b="1">
                <a:latin typeface="Arial"/>
                <a:cs typeface="Arial"/>
              </a:rPr>
              <a:t>  </a:t>
            </a:r>
            <a:r>
              <a:rPr dirty="0" sz="1200" b="1">
                <a:latin typeface="Arial"/>
                <a:cs typeface="Arial"/>
              </a:rPr>
              <a:t>superlotação</a:t>
            </a:r>
            <a:r>
              <a:rPr dirty="0" sz="1200" spc="110" b="1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base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histórico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 spc="-10">
                <a:latin typeface="Arial"/>
                <a:cs typeface="Arial"/>
              </a:rPr>
              <a:t>dados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640"/>
              </a:spcBef>
            </a:pPr>
            <a:r>
              <a:rPr dirty="0" sz="1200" spc="-10">
                <a:latin typeface="Arial"/>
                <a:cs typeface="Arial"/>
              </a:rPr>
              <a:t>instantâneos;</a:t>
            </a:r>
            <a:endParaRPr sz="1200">
              <a:latin typeface="Arial"/>
              <a:cs typeface="Arial"/>
            </a:endParaRPr>
          </a:p>
          <a:p>
            <a:pPr lvl="2" marL="469265" marR="9525" indent="915035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Ajuste</a:t>
            </a:r>
            <a:r>
              <a:rPr dirty="0" sz="1200" spc="2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dinâmico</a:t>
            </a:r>
            <a:r>
              <a:rPr dirty="0" sz="1200" spc="2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</a:t>
            </a:r>
            <a:r>
              <a:rPr dirty="0" sz="1200" spc="2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frota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aumentando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ou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reduzindo</a:t>
            </a:r>
            <a:r>
              <a:rPr dirty="0" sz="1200" spc="2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intervalos automaticamente;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Reorganização</a:t>
            </a:r>
            <a:r>
              <a:rPr dirty="0" sz="1200" spc="4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4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fluxo</a:t>
            </a:r>
            <a:r>
              <a:rPr dirty="0" sz="1200" spc="4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em</a:t>
            </a:r>
            <a:r>
              <a:rPr dirty="0" sz="1200" spc="4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estações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3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direcionando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usuários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"/>
                <a:cs typeface="Arial"/>
              </a:rPr>
              <a:t>por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meio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painéis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inteligentes;</a:t>
            </a:r>
            <a:endParaRPr sz="1200">
              <a:latin typeface="Arial"/>
              <a:cs typeface="Arial"/>
            </a:endParaRPr>
          </a:p>
          <a:p>
            <a:pPr lvl="2" marL="469265" marR="5080" indent="915035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1384300" algn="l"/>
                <a:tab pos="2164715" algn="l"/>
                <a:tab pos="2498090" algn="l"/>
                <a:tab pos="3033395" algn="l"/>
                <a:tab pos="4066540" algn="l"/>
                <a:tab pos="5359400" algn="l"/>
                <a:tab pos="5819140" algn="l"/>
              </a:tabLst>
            </a:pPr>
            <a:r>
              <a:rPr dirty="0" sz="1200" spc="-10" b="1">
                <a:latin typeface="Arial"/>
                <a:cs typeface="Arial"/>
              </a:rPr>
              <a:t>Geração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5" b="1">
                <a:latin typeface="Arial"/>
                <a:cs typeface="Arial"/>
              </a:rPr>
              <a:t>de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0" b="1">
                <a:latin typeface="Arial"/>
                <a:cs typeface="Arial"/>
              </a:rPr>
              <a:t>rotas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alternativas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personalizadas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0">
                <a:latin typeface="Arial"/>
                <a:cs typeface="Arial"/>
              </a:rPr>
              <a:t>para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os </a:t>
            </a:r>
            <a:r>
              <a:rPr dirty="0" sz="1200">
                <a:latin typeface="Arial"/>
                <a:cs typeface="Arial"/>
              </a:rPr>
              <a:t>passageiros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via</a:t>
            </a:r>
            <a:r>
              <a:rPr dirty="0" sz="1200" spc="18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aplicativo.</a:t>
            </a:r>
            <a:endParaRPr sz="1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1140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lvl="1" marL="728980" indent="-267335">
              <a:lnSpc>
                <a:spcPct val="100000"/>
              </a:lnSpc>
              <a:buAutoNum type="arabicPeriod" startAt="3"/>
              <a:tabLst>
                <a:tab pos="728980" algn="l"/>
              </a:tabLst>
            </a:pPr>
            <a:r>
              <a:rPr dirty="0" sz="1200" b="1">
                <a:latin typeface="Arial"/>
                <a:cs typeface="Arial"/>
              </a:rPr>
              <a:t>Segurança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Integridade</a:t>
            </a:r>
            <a:endParaRPr sz="1200">
              <a:latin typeface="Arial"/>
              <a:cs typeface="Arial"/>
            </a:endParaRPr>
          </a:p>
          <a:p>
            <a:pPr marL="12700" marR="14604" indent="448945">
              <a:lnSpc>
                <a:spcPts val="2080"/>
              </a:lnSpc>
              <a:spcBef>
                <a:spcPts val="16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digital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é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pilares</a:t>
            </a:r>
            <a:r>
              <a:rPr dirty="0" sz="1200" spc="4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FlowTrack,</a:t>
            </a:r>
            <a:r>
              <a:rPr dirty="0" sz="1200" spc="48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garantindo</a:t>
            </a:r>
            <a:r>
              <a:rPr dirty="0" sz="1200" spc="49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proteção </a:t>
            </a:r>
            <a:r>
              <a:rPr dirty="0" sz="1200">
                <a:latin typeface="Arial"/>
                <a:cs typeface="Arial"/>
              </a:rPr>
              <a:t>contra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fraudes,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ataques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manipulação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dados: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44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Criptografia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ponta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ponta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todas</a:t>
            </a:r>
            <a:r>
              <a:rPr dirty="0" sz="1200" spc="1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as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comunicações;</a:t>
            </a:r>
            <a:endParaRPr sz="1200">
              <a:latin typeface="Arial"/>
              <a:cs typeface="Arial"/>
            </a:endParaRPr>
          </a:p>
          <a:p>
            <a:pPr lvl="2" marL="469265" marR="9525" indent="915035">
              <a:lnSpc>
                <a:spcPct val="143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Autenticação</a:t>
            </a:r>
            <a:r>
              <a:rPr dirty="0" sz="1200" spc="3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individual</a:t>
            </a:r>
            <a:r>
              <a:rPr dirty="0" sz="1200" spc="3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3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sensores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prevenindo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dispositivos falsos;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Blockchain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privada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registro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imutável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eventos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falhas;</a:t>
            </a:r>
            <a:endParaRPr sz="1200">
              <a:latin typeface="Arial"/>
              <a:cs typeface="Arial"/>
            </a:endParaRPr>
          </a:p>
          <a:p>
            <a:pPr lvl="2" marL="469265" marR="5715" indent="915035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 b="1">
                <a:latin typeface="Arial"/>
                <a:cs typeface="Arial"/>
              </a:rPr>
              <a:t>Monitoramento</a:t>
            </a:r>
            <a:r>
              <a:rPr dirty="0" sz="1200" spc="409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ativo</a:t>
            </a:r>
            <a:r>
              <a:rPr dirty="0" sz="1200" spc="409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4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ameaças</a:t>
            </a:r>
            <a:r>
              <a:rPr dirty="0" sz="1200" spc="4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cibernéticas</a:t>
            </a:r>
            <a:r>
              <a:rPr dirty="0" sz="1200" spc="434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IA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para </a:t>
            </a:r>
            <a:r>
              <a:rPr dirty="0" sz="1200">
                <a:latin typeface="Arial"/>
                <a:cs typeface="Arial"/>
              </a:rPr>
              <a:t>detecção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precoce.</a:t>
            </a:r>
            <a:endParaRPr sz="1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114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lvl="1" marL="728980" indent="-267335">
              <a:lnSpc>
                <a:spcPct val="100000"/>
              </a:lnSpc>
              <a:buAutoNum type="arabicPeriod" startAt="4"/>
              <a:tabLst>
                <a:tab pos="728980" algn="l"/>
              </a:tabLst>
            </a:pPr>
            <a:r>
              <a:rPr dirty="0" sz="1200" b="1">
                <a:latin typeface="Arial"/>
                <a:cs typeface="Arial"/>
              </a:rPr>
              <a:t>Modelo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Negócio</a:t>
            </a:r>
            <a:endParaRPr sz="1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modelo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negócio</a:t>
            </a:r>
            <a:r>
              <a:rPr dirty="0" sz="1200" spc="1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proposto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é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flexível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escalável: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>
                <a:latin typeface="Arial"/>
                <a:cs typeface="Arial"/>
              </a:rPr>
              <a:t>Venda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instalação</a:t>
            </a:r>
            <a:r>
              <a:rPr dirty="0" sz="1200" spc="1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sensores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IoT;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>
                <a:latin typeface="Arial"/>
                <a:cs typeface="Arial"/>
              </a:rPr>
              <a:t>Licenciamento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plataforma</a:t>
            </a:r>
            <a:r>
              <a:rPr dirty="0" sz="1200" spc="20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FlowTrack;</a:t>
            </a:r>
            <a:endParaRPr sz="1200">
              <a:latin typeface="Arial"/>
              <a:cs typeface="Arial"/>
            </a:endParaRPr>
          </a:p>
          <a:p>
            <a:pPr lvl="2" marL="1384300" indent="-465455">
              <a:lnSpc>
                <a:spcPct val="100000"/>
              </a:lnSpc>
              <a:spcBef>
                <a:spcPts val="62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>
                <a:latin typeface="Arial"/>
                <a:cs typeface="Arial"/>
              </a:rPr>
              <a:t>Suporte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contínuo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atualizações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periódicas;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8120" y="796797"/>
            <a:ext cx="5987415" cy="449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5715" indent="915035">
              <a:lnSpc>
                <a:spcPct val="1442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1384300" algn="l"/>
              </a:tabLst>
            </a:pPr>
            <a:r>
              <a:rPr dirty="0" sz="1200">
                <a:latin typeface="Arial"/>
                <a:cs typeface="Arial"/>
              </a:rPr>
              <a:t>Integração</a:t>
            </a:r>
            <a:r>
              <a:rPr dirty="0" sz="1200" spc="16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opcional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16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bilhetagem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digital</a:t>
            </a:r>
            <a:r>
              <a:rPr dirty="0" sz="1200" spc="16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aplicativos</a:t>
            </a:r>
            <a:r>
              <a:rPr dirty="0" sz="1200" spc="165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de </a:t>
            </a:r>
            <a:r>
              <a:rPr dirty="0" sz="1200">
                <a:latin typeface="Arial"/>
                <a:cs typeface="Arial"/>
              </a:rPr>
              <a:t>mobilidade</a:t>
            </a:r>
            <a:r>
              <a:rPr dirty="0" sz="1200" spc="2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urbana;</a:t>
            </a:r>
            <a:endParaRPr sz="1200">
              <a:latin typeface="Arial"/>
              <a:cs typeface="Arial"/>
            </a:endParaRPr>
          </a:p>
          <a:p>
            <a:pPr marL="469265" marR="5080" indent="915035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1384300" algn="l"/>
                <a:tab pos="2148205" algn="l"/>
                <a:tab pos="3407410" algn="l"/>
                <a:tab pos="3916045" algn="l"/>
                <a:tab pos="4907915" algn="l"/>
                <a:tab pos="5888990" algn="l"/>
              </a:tabLst>
            </a:pPr>
            <a:r>
              <a:rPr dirty="0" sz="1200" spc="-10">
                <a:latin typeface="Arial"/>
                <a:cs typeface="Arial"/>
              </a:rPr>
              <a:t>Pacotes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personalizados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20">
                <a:latin typeface="Arial"/>
                <a:cs typeface="Arial"/>
              </a:rPr>
              <a:t>para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operadores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10">
                <a:latin typeface="Arial"/>
                <a:cs typeface="Arial"/>
              </a:rPr>
              <a:t>ferroviários</a:t>
            </a:r>
            <a:r>
              <a:rPr dirty="0" sz="1200">
                <a:latin typeface="Arial"/>
                <a:cs typeface="Arial"/>
              </a:rPr>
              <a:t>	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>
                <a:latin typeface="Arial"/>
                <a:cs typeface="Arial"/>
              </a:rPr>
              <a:t>empresas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transporte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200">
              <a:latin typeface="Arial"/>
              <a:cs typeface="Arial"/>
            </a:endParaRPr>
          </a:p>
          <a:p>
            <a:pPr algn="just" marL="461645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5.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Conclusão</a:t>
            </a:r>
            <a:endParaRPr sz="1200">
              <a:latin typeface="Arial"/>
              <a:cs typeface="Arial"/>
            </a:endParaRPr>
          </a:p>
          <a:p>
            <a:pPr algn="just" marL="12700" indent="448945">
              <a:lnSpc>
                <a:spcPct val="100000"/>
              </a:lnSpc>
              <a:spcBef>
                <a:spcPts val="620"/>
              </a:spcBef>
            </a:pP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FlowTrack</a:t>
            </a:r>
            <a:r>
              <a:rPr dirty="0" sz="1200" spc="3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apresenta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potencial</a:t>
            </a:r>
            <a:r>
              <a:rPr dirty="0" sz="1200" spc="3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significativo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3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revolucionar</a:t>
            </a:r>
            <a:r>
              <a:rPr dirty="0" sz="1200" spc="3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transporte</a:t>
            </a: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43700"/>
              </a:lnSpc>
              <a:spcBef>
                <a:spcPts val="10"/>
              </a:spcBef>
            </a:pPr>
            <a:r>
              <a:rPr dirty="0" sz="1200">
                <a:latin typeface="Arial"/>
                <a:cs typeface="Arial"/>
              </a:rPr>
              <a:t>ferroviário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na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cidade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São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Paulo,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oferecendo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uma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abordagem</a:t>
            </a:r>
            <a:r>
              <a:rPr dirty="0" sz="1200" spc="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moderna,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integrada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altamente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eficiente.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combinação</a:t>
            </a:r>
            <a:r>
              <a:rPr dirty="0" sz="1200" spc="9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IoT,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IA</a:t>
            </a:r>
            <a:r>
              <a:rPr dirty="0" sz="1200" spc="10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segurança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digital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cria</a:t>
            </a:r>
            <a:r>
              <a:rPr dirty="0" sz="1200" spc="100">
                <a:latin typeface="Arial"/>
                <a:cs typeface="Arial"/>
              </a:rPr>
              <a:t>  </a:t>
            </a:r>
            <a:r>
              <a:rPr dirty="0" sz="1200" spc="-25">
                <a:latin typeface="Arial"/>
                <a:cs typeface="Arial"/>
              </a:rPr>
              <a:t>uma </a:t>
            </a:r>
            <a:r>
              <a:rPr dirty="0" sz="1200">
                <a:latin typeface="Arial"/>
                <a:cs typeface="Arial"/>
              </a:rPr>
              <a:t>infraestrutura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resiliente</a:t>
            </a:r>
            <a:r>
              <a:rPr dirty="0" sz="1200" spc="17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capaz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prevenir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falhas,</a:t>
            </a:r>
            <a:r>
              <a:rPr dirty="0" sz="1200" spc="17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reduzir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atrasos,</a:t>
            </a:r>
            <a:r>
              <a:rPr dirty="0" sz="1200" spc="17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melhorar</a:t>
            </a:r>
            <a:r>
              <a:rPr dirty="0" sz="1200" spc="170">
                <a:latin typeface="Arial"/>
                <a:cs typeface="Arial"/>
              </a:rPr>
              <a:t>  </a:t>
            </a:r>
            <a:r>
              <a:rPr dirty="0" sz="1200" spc="-50">
                <a:latin typeface="Arial"/>
                <a:cs typeface="Arial"/>
              </a:rPr>
              <a:t>a </a:t>
            </a:r>
            <a:r>
              <a:rPr dirty="0" sz="1200">
                <a:latin typeface="Arial"/>
                <a:cs typeface="Arial"/>
              </a:rPr>
              <a:t>experiência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11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passageiros</a:t>
            </a:r>
            <a:r>
              <a:rPr dirty="0" sz="1200" spc="1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otimizar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uso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recursos.</a:t>
            </a:r>
            <a:endParaRPr sz="1200">
              <a:latin typeface="Arial"/>
              <a:cs typeface="Arial"/>
            </a:endParaRPr>
          </a:p>
          <a:p>
            <a:pPr algn="just" marL="12700" marR="5080" indent="448945">
              <a:lnSpc>
                <a:spcPct val="143700"/>
              </a:lnSpc>
              <a:spcBef>
                <a:spcPts val="5"/>
              </a:spcBef>
            </a:pP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limitações,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destaca-se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4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necessidade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4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grande</a:t>
            </a:r>
            <a:r>
              <a:rPr dirty="0" sz="1200" spc="4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investimento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inicial </a:t>
            </a:r>
            <a:r>
              <a:rPr dirty="0" sz="1200">
                <a:latin typeface="Arial"/>
                <a:cs typeface="Arial"/>
              </a:rPr>
              <a:t>em</a:t>
            </a:r>
            <a:r>
              <a:rPr dirty="0" sz="1200" spc="30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infraestrutura</a:t>
            </a:r>
            <a:r>
              <a:rPr dirty="0" sz="1200" spc="2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tecnológica</a:t>
            </a:r>
            <a:r>
              <a:rPr dirty="0" sz="1200" spc="2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3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treinamento</a:t>
            </a:r>
            <a:r>
              <a:rPr dirty="0" sz="1200" spc="3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das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equipes</a:t>
            </a:r>
            <a:r>
              <a:rPr dirty="0" sz="1200" spc="2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operacionais.</a:t>
            </a:r>
            <a:r>
              <a:rPr dirty="0" sz="1200" spc="30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Além</a:t>
            </a:r>
            <a:r>
              <a:rPr dirty="0" sz="1200" spc="30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disso,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implementação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</a:t>
            </a:r>
            <a:r>
              <a:rPr dirty="0" sz="1200" spc="1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sistema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requer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integração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</a:t>
            </a:r>
            <a:r>
              <a:rPr dirty="0" sz="1200" spc="18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redes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já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existentes,</a:t>
            </a:r>
            <a:r>
              <a:rPr dirty="0" sz="1200" spc="1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que</a:t>
            </a:r>
            <a:r>
              <a:rPr dirty="0" sz="1200" spc="17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pode </a:t>
            </a:r>
            <a:r>
              <a:rPr dirty="0" sz="1200">
                <a:latin typeface="Arial"/>
                <a:cs typeface="Arial"/>
              </a:rPr>
              <a:t>ampliar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</a:t>
            </a:r>
            <a:r>
              <a:rPr dirty="0" sz="1200" spc="3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tempo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3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implantação.</a:t>
            </a:r>
            <a:r>
              <a:rPr dirty="0" sz="1200" spc="3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Estudos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futuros</a:t>
            </a:r>
            <a:r>
              <a:rPr dirty="0" sz="1200" spc="3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podem</a:t>
            </a:r>
            <a:r>
              <a:rPr dirty="0" sz="1200" spc="3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explorar</a:t>
            </a:r>
            <a:r>
              <a:rPr dirty="0" sz="1200" spc="3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simulações</a:t>
            </a:r>
            <a:r>
              <a:rPr dirty="0" sz="1200" spc="36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em </a:t>
            </a:r>
            <a:r>
              <a:rPr dirty="0" sz="1200">
                <a:latin typeface="Arial"/>
                <a:cs typeface="Arial"/>
              </a:rPr>
              <a:t>larga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escala,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testes</a:t>
            </a:r>
            <a:r>
              <a:rPr dirty="0" sz="1200" spc="14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pilotos</a:t>
            </a:r>
            <a:r>
              <a:rPr dirty="0" sz="1200" spc="15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expansão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para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outros</a:t>
            </a:r>
            <a:r>
              <a:rPr dirty="0" sz="1200" spc="15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modais,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como</a:t>
            </a:r>
            <a:r>
              <a:rPr dirty="0" sz="1200" spc="155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ônibus</a:t>
            </a:r>
            <a:r>
              <a:rPr dirty="0" sz="1200" spc="150">
                <a:latin typeface="Arial"/>
                <a:cs typeface="Arial"/>
              </a:rPr>
              <a:t>  </a:t>
            </a:r>
            <a:r>
              <a:rPr dirty="0" sz="1200" spc="-50">
                <a:latin typeface="Arial"/>
                <a:cs typeface="Arial"/>
              </a:rPr>
              <a:t>e </a:t>
            </a:r>
            <a:r>
              <a:rPr dirty="0" sz="1200" spc="-10">
                <a:latin typeface="Arial"/>
                <a:cs typeface="Arial"/>
              </a:rPr>
              <a:t>monotrilhos.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25269" y="5794629"/>
            <a:ext cx="5540375" cy="186563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80">
              <a:lnSpc>
                <a:spcPct val="100000"/>
              </a:lnSpc>
              <a:spcBef>
                <a:spcPts val="720"/>
              </a:spcBef>
            </a:pPr>
            <a:r>
              <a:rPr dirty="0" sz="1200" spc="-10" b="1">
                <a:latin typeface="Arial"/>
                <a:cs typeface="Arial"/>
              </a:rPr>
              <a:t>Referências</a:t>
            </a:r>
            <a:endParaRPr sz="1200">
              <a:latin typeface="Arial"/>
              <a:cs typeface="Arial"/>
            </a:endParaRPr>
          </a:p>
          <a:p>
            <a:pPr marL="12700" marR="5080" indent="914400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dirty="0" sz="1200">
                <a:latin typeface="Arial"/>
                <a:cs typeface="Arial"/>
              </a:rPr>
              <a:t>Silva,</a:t>
            </a:r>
            <a:r>
              <a:rPr dirty="0" sz="1200" spc="2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R.</a:t>
            </a:r>
            <a:r>
              <a:rPr dirty="0" sz="1200" spc="2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(2022).</a:t>
            </a:r>
            <a:r>
              <a:rPr dirty="0" sz="1200" spc="26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Tecnologias</a:t>
            </a:r>
            <a:r>
              <a:rPr dirty="0" sz="1200" spc="22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Inteligentes</a:t>
            </a:r>
            <a:r>
              <a:rPr dirty="0" sz="1200" spc="204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na</a:t>
            </a:r>
            <a:r>
              <a:rPr dirty="0" sz="1200" spc="229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Mobilidade</a:t>
            </a:r>
            <a:r>
              <a:rPr dirty="0" sz="1200" spc="229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Urbana</a:t>
            </a:r>
            <a:r>
              <a:rPr dirty="0" sz="1200" spc="-10">
                <a:latin typeface="Arial"/>
                <a:cs typeface="Arial"/>
              </a:rPr>
              <a:t>. </a:t>
            </a:r>
            <a:r>
              <a:rPr dirty="0" sz="1200">
                <a:latin typeface="Arial"/>
                <a:cs typeface="Arial"/>
              </a:rPr>
              <a:t>Revista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Brasileira</a:t>
            </a:r>
            <a:r>
              <a:rPr dirty="0" sz="1200" spc="1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1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Mobilidade.</a:t>
            </a:r>
            <a:endParaRPr sz="1200">
              <a:latin typeface="Arial"/>
              <a:cs typeface="Arial"/>
            </a:endParaRPr>
          </a:p>
          <a:p>
            <a:pPr marL="927100" indent="-464820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dirty="0" sz="1200">
                <a:latin typeface="Arial"/>
                <a:cs typeface="Arial"/>
              </a:rPr>
              <a:t>Pereira,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L.;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Santos,</a:t>
            </a:r>
            <a:r>
              <a:rPr dirty="0" sz="1200" spc="4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D.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(2023).</a:t>
            </a:r>
            <a:r>
              <a:rPr dirty="0" sz="1200" spc="470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IoT</a:t>
            </a:r>
            <a:r>
              <a:rPr dirty="0" sz="1200" spc="42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em</a:t>
            </a:r>
            <a:r>
              <a:rPr dirty="0" sz="1200" spc="42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Sistemas</a:t>
            </a:r>
            <a:r>
              <a:rPr dirty="0" sz="1200" spc="42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Ferroviários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"/>
                <a:cs typeface="Arial"/>
              </a:rPr>
              <a:t>Journal</a:t>
            </a:r>
            <a:r>
              <a:rPr dirty="0" sz="1200" spc="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1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Smart</a:t>
            </a:r>
            <a:r>
              <a:rPr dirty="0" sz="1200" spc="1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Cities.</a:t>
            </a:r>
            <a:endParaRPr sz="1200">
              <a:latin typeface="Arial"/>
              <a:cs typeface="Arial"/>
            </a:endParaRPr>
          </a:p>
          <a:p>
            <a:pPr marL="12700" marR="12700" indent="914400">
              <a:lnSpc>
                <a:spcPts val="2080"/>
              </a:lnSpc>
              <a:spcBef>
                <a:spcPts val="85"/>
              </a:spcBef>
              <a:buSzPct val="83333"/>
              <a:buFont typeface="Symbol"/>
              <a:buChar char=""/>
              <a:tabLst>
                <a:tab pos="927100" algn="l"/>
              </a:tabLst>
            </a:pPr>
            <a:r>
              <a:rPr dirty="0" sz="1200">
                <a:latin typeface="Arial"/>
                <a:cs typeface="Arial"/>
              </a:rPr>
              <a:t>Almeida,</a:t>
            </a:r>
            <a:r>
              <a:rPr dirty="0" sz="1200" spc="204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F.</a:t>
            </a:r>
            <a:r>
              <a:rPr dirty="0" sz="1200" spc="210">
                <a:latin typeface="Arial"/>
                <a:cs typeface="Arial"/>
              </a:rPr>
              <a:t>  </a:t>
            </a:r>
            <a:r>
              <a:rPr dirty="0" sz="1200">
                <a:latin typeface="Arial"/>
                <a:cs typeface="Arial"/>
              </a:rPr>
              <a:t>(2024).</a:t>
            </a:r>
            <a:r>
              <a:rPr dirty="0" sz="1200" spc="215">
                <a:latin typeface="Arial"/>
                <a:cs typeface="Arial"/>
              </a:rPr>
              <a:t>  </a:t>
            </a:r>
            <a:r>
              <a:rPr dirty="0" sz="1200" i="1">
                <a:latin typeface="Arial"/>
                <a:cs typeface="Arial"/>
              </a:rPr>
              <a:t>Inteligência</a:t>
            </a:r>
            <a:r>
              <a:rPr dirty="0" sz="1200" spc="210" i="1">
                <a:latin typeface="Arial"/>
                <a:cs typeface="Arial"/>
              </a:rPr>
              <a:t>  </a:t>
            </a:r>
            <a:r>
              <a:rPr dirty="0" sz="1200" i="1">
                <a:latin typeface="Arial"/>
                <a:cs typeface="Arial"/>
              </a:rPr>
              <a:t>Artificial</a:t>
            </a:r>
            <a:r>
              <a:rPr dirty="0" sz="1200" spc="204" i="1">
                <a:latin typeface="Arial"/>
                <a:cs typeface="Arial"/>
              </a:rPr>
              <a:t>  </a:t>
            </a:r>
            <a:r>
              <a:rPr dirty="0" sz="1200" i="1">
                <a:latin typeface="Arial"/>
                <a:cs typeface="Arial"/>
              </a:rPr>
              <a:t>em</a:t>
            </a:r>
            <a:r>
              <a:rPr dirty="0" sz="1200" spc="200" i="1">
                <a:latin typeface="Arial"/>
                <a:cs typeface="Arial"/>
              </a:rPr>
              <a:t>  </a:t>
            </a:r>
            <a:r>
              <a:rPr dirty="0" sz="1200" spc="-10" i="1">
                <a:latin typeface="Arial"/>
                <a:cs typeface="Arial"/>
              </a:rPr>
              <a:t>Infraestruturas </a:t>
            </a:r>
            <a:r>
              <a:rPr dirty="0" sz="1200" i="1">
                <a:latin typeface="Arial"/>
                <a:cs typeface="Arial"/>
              </a:rPr>
              <a:t>Críticas</a:t>
            </a:r>
            <a:r>
              <a:rPr dirty="0" sz="1200">
                <a:latin typeface="Arial"/>
                <a:cs typeface="Arial"/>
              </a:rPr>
              <a:t>.</a:t>
            </a:r>
            <a:r>
              <a:rPr dirty="0" sz="1200" spc="19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Editora</a:t>
            </a:r>
            <a:r>
              <a:rPr dirty="0" sz="1200" spc="19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TechBrasil.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terms:created xsi:type="dcterms:W3CDTF">2025-11-26T01:21:02Z</dcterms:created>
  <dcterms:modified xsi:type="dcterms:W3CDTF">2025-11-26T01:21:02Z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2025-11-26T00:00:00Z</vt:filetime>
  </property>
  <property fmtid="{D5CDD505-2E9C-101B-9397-08002B2CF9AE}" pid="5" name="Producer">
    <vt:lpwstr>3-Heights(TM) PDF Security Shell 4.8.25.2 (http://www.pdf-tools.com)</vt:lpwstr>
  </property>
</Properties>
</file>